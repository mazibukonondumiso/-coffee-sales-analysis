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covers January through June performance, the patterns visible in the dashboard, and the operating actions those patterns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strong half-year momentum. The opportunity is operational: use the demand patterns to improve basket size, staffing, replenishment, and cross-store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shows a small February dip followed by a steady rise, with the largest step-up arriving in May and June. The dashboard shows what changed, not why it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store is materially ahead. The operating implication is to share what works across all three locations rather than over-focus on one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contributes approximately $270k and tea approximately $200k. Smaller categories are the attach-rate opportunity, not the primary revenue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Wednesday, Thursday, and Friday are each around 29k units. The range is narrow enough to keep core staffing consistent while testing a focused response to the weekend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Morning sales are approximately 85k, versus 60k in the afternoon and 15k in the evening. The first operating priority is peak execution, not additional evening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measures point in the same direction: monthly sales rise from approximately 18k to 36k, and revenue reaches approximately $170k in June. We should describe the momentum without claiming a cause the dashboard does not establish.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converts each observed pattern into a manageable test or operating habit. It keeps the recommendations focused and avoids broad discounting or unsupported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 is a practical commitment: keep the momentum, use the strongest categories to improve the basket, manage the busiest service window, and make the next review a regular operating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1752600"/>
            <a:ext cx="7492813" cy="3197523"/>
          </a:xfrm>
          <a:prstGeom prst="roundRect">
            <a:avLst>
              <a:gd name="adj" fmla="val 6673"/>
            </a:avLst>
          </a:prstGeom>
          <a:solidFill>
            <a:srgbClr val="EEF7F2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2114391"/>
            <a:ext cx="728961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4646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JANUARY–JUNE PERFORMANCE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92173" y="2473920"/>
            <a:ext cx="6680033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Bright Coffee Shop</a:t>
            </a:r>
            <a:endParaRPr lang="en-US" sz="5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200" spc="-156" kern="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Sales Analysis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2173" y="3982045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4256746"/>
            <a:ext cx="7289618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insights and action plan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EXECUTIVE READOUT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Strong half-year momentum, with clear operating opportunities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333180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business has scale, a balanced store base, and a clear set of demand patterns to act 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13149"/>
            <a:ext cx="2514537" cy="2489895"/>
          </a:xfrm>
          <a:prstGeom prst="roundRect">
            <a:avLst>
              <a:gd name="adj" fmla="val 8569"/>
            </a:avLst>
          </a:prstGeom>
          <a:solidFill>
            <a:srgbClr val="EEF7F2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105249"/>
            <a:ext cx="2057349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$698,812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38179" y="4563447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· January–June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28914" y="2813149"/>
            <a:ext cx="2514537" cy="2489895"/>
          </a:xfrm>
          <a:prstGeom prst="roundRect">
            <a:avLst>
              <a:gd name="adj" fmla="val 8569"/>
            </a:avLst>
          </a:prstGeom>
          <a:solidFill>
            <a:srgbClr val="EE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509" y="3105249"/>
            <a:ext cx="2057349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214,470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657509" y="4563447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8244" y="2813149"/>
            <a:ext cx="2514537" cy="2489895"/>
          </a:xfrm>
          <a:prstGeom prst="roundRect">
            <a:avLst>
              <a:gd name="adj" fmla="val 8569"/>
            </a:avLst>
          </a:prstGeom>
          <a:solidFill>
            <a:srgbClr val="EE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105249"/>
            <a:ext cx="2057349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149,116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76838" y="3903047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67573" y="2813149"/>
            <a:ext cx="2514537" cy="2489895"/>
          </a:xfrm>
          <a:prstGeom prst="roundRect">
            <a:avLst>
              <a:gd name="adj" fmla="val 8569"/>
            </a:avLst>
          </a:prstGeom>
          <a:solidFill>
            <a:srgbClr val="EE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9296167" y="3105249"/>
            <a:ext cx="2057349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96167" y="3903047"/>
            <a:ext cx="2285943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Unique products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585" y="5484892"/>
            <a:ext cx="10972526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June is the strongest visible month. Coffee and tea lead category revenue, while the broad product range creates room to grow basket size.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MONTHLY REVENUE · ESTIMATED DASHBOARD VALUES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rises steadily from February through June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99766"/>
            <a:ext cx="7111822" cy="3435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618639"/>
            <a:ext cx="7111822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values from the dashboard; chart labels are estimates.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26199" y="1871166"/>
            <a:ext cx="3555911" cy="4203402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8356391" y="2403138"/>
            <a:ext cx="289552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June is the visible high point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56391" y="3332214"/>
            <a:ext cx="2895528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February is the low point at approximately $75k. Revenue then climbs through June, reaching approximately $170k.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356391" y="4974630"/>
            <a:ext cx="2895528" cy="578445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2" name="Text 9"/>
          <p:cNvSpPr/>
          <p:nvPr/>
        </p:nvSpPr>
        <p:spPr>
          <a:xfrm>
            <a:off x="8485868" y="5049861"/>
            <a:ext cx="2636573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 Momentum strengthens after February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STORE CONTRIBUTION · ESTIMATED SHARE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All three stores contribute almost equally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99766"/>
            <a:ext cx="6756231" cy="3257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440740"/>
            <a:ext cx="6756231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shares from the dashboard; the gap is less than one percentage point.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670509" y="1871166"/>
            <a:ext cx="3911601" cy="4256881"/>
          </a:xfrm>
          <a:prstGeom prst="roundRect">
            <a:avLst>
              <a:gd name="adj" fmla="val 5454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8000701" y="2781161"/>
            <a:ext cx="325121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Balance is the insight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00701" y="3314057"/>
            <a:ext cx="3251218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Hell's Kitchen leads at 33.84%, followed by Astoria at 33.23% and Lower Manhattan at 32.92%.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00701" y="4649986"/>
            <a:ext cx="3251218" cy="578445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2" name="Text 9"/>
          <p:cNvSpPr/>
          <p:nvPr/>
        </p:nvSpPr>
        <p:spPr>
          <a:xfrm>
            <a:off x="8130178" y="4725218"/>
            <a:ext cx="2992263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 Share best practices across stores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CATEGORY MIX · ESTIMATED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Coffee and tea drive the category mix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99766"/>
            <a:ext cx="7111822" cy="35255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708729"/>
            <a:ext cx="7111822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category values from the dashboard.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26199" y="1871166"/>
            <a:ext cx="3555911" cy="4293493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8330992" y="2641263"/>
            <a:ext cx="294632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Lead with the beverage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30992" y="3570339"/>
            <a:ext cx="2946326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Coffee and tea are the strongest revenue engines. Bundles and add-on prompts can connect them to bakery, beans, and branded products.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WEEKLY DEMAND · ESTIMATED UNITS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Weekday demand is stable, with a narrow peak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99766"/>
            <a:ext cx="7111822" cy="3343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526365"/>
            <a:ext cx="7111822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units from the dashboard; Wednesday through Friday form the narrow peak.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26199" y="1871166"/>
            <a:ext cx="3555911" cy="4342507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8356391" y="2629753"/>
            <a:ext cx="289552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 the baseline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56391" y="3162649"/>
            <a:ext cx="2895528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demand is consistent. Saturday is lowest at approximately 26k, so test targeted weekend offers instead of broad discounting.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356391" y="5111552"/>
            <a:ext cx="2676359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2" name="Text 9"/>
          <p:cNvSpPr/>
          <p:nvPr/>
        </p:nvSpPr>
        <p:spPr>
          <a:xfrm>
            <a:off x="8485868" y="5186783"/>
            <a:ext cx="302698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 Focus the test on Saturday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TIME OF DAY · ESTIMATED 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Morning is the busiest service window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49475"/>
            <a:ext cx="7111822" cy="33107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543629"/>
            <a:ext cx="7111822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sales values from the dashboard.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26199" y="1871166"/>
            <a:ext cx="3555911" cy="4178102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9" name="Text 6"/>
          <p:cNvSpPr/>
          <p:nvPr/>
        </p:nvSpPr>
        <p:spPr>
          <a:xfrm>
            <a:off x="8356391" y="2237244"/>
            <a:ext cx="289552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Win the opening hours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56391" y="3166320"/>
            <a:ext cx="2895528" cy="183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Morning demand is more than five times the visible evening volume. Prioritize readiness, fast-moving inventory, and peak-period staffing.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356391" y="5115223"/>
            <a:ext cx="2895528" cy="578445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2" name="Text 9"/>
          <p:cNvSpPr/>
          <p:nvPr/>
        </p:nvSpPr>
        <p:spPr>
          <a:xfrm>
            <a:off x="8485868" y="5190454"/>
            <a:ext cx="2636573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✓ Staff and replenish for morning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PERIOD CLOSE · DISCIPLINED INTERPRETATION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June closes the period at the visible peak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1871166"/>
            <a:ext cx="5333867" cy="2482652"/>
          </a:xfrm>
          <a:prstGeom prst="roundRect">
            <a:avLst>
              <a:gd name="adj" fmla="val 8594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163266"/>
            <a:ext cx="487667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36k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38179" y="2961065"/>
            <a:ext cx="5105272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June monthly sales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8179" y="3331270"/>
            <a:ext cx="1219170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3516562"/>
            <a:ext cx="487667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January begins near 18k, with only a small February dip.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1871166"/>
            <a:ext cx="5333867" cy="2482652"/>
          </a:xfrm>
          <a:prstGeom prst="roundRect">
            <a:avLst>
              <a:gd name="adj" fmla="val 8594"/>
            </a:avLst>
          </a:prstGeom>
          <a:solidFill>
            <a:srgbClr val="EEF7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2316460"/>
            <a:ext cx="487667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$170k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76838" y="3114258"/>
            <a:ext cx="5105272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Approximate June revenue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76838" y="3484463"/>
            <a:ext cx="1219170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3669756"/>
            <a:ext cx="510527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February revenue is approximately $75k.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4531618"/>
            <a:ext cx="7111822" cy="1722338"/>
          </a:xfrm>
          <a:prstGeom prst="rect">
            <a:avLst/>
          </a:prstGeom>
          <a:solidFill>
            <a:srgbClr val="127A53"/>
          </a:solidFill>
          <a:ln/>
        </p:spPr>
      </p:sp>
      <p:sp>
        <p:nvSpPr>
          <p:cNvPr id="17" name="Text 15"/>
          <p:cNvSpPr/>
          <p:nvPr/>
        </p:nvSpPr>
        <p:spPr>
          <a:xfrm>
            <a:off x="888978" y="4770695"/>
            <a:ext cx="655303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Momentum strengthens materially in May and June.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26199" y="4531618"/>
            <a:ext cx="3555911" cy="1722338"/>
          </a:xfrm>
          <a:prstGeom prst="roundRect">
            <a:avLst>
              <a:gd name="adj" fmla="val 12388"/>
            </a:avLst>
          </a:prstGeom>
          <a:solidFill>
            <a:srgbClr val="EEF7F2"/>
          </a:solidFill>
          <a:ln/>
        </p:spPr>
      </p:sp>
      <p:sp>
        <p:nvSpPr>
          <p:cNvPr id="19" name="Text 17"/>
          <p:cNvSpPr/>
          <p:nvPr/>
        </p:nvSpPr>
        <p:spPr>
          <a:xfrm>
            <a:off x="8305592" y="4764266"/>
            <a:ext cx="327651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Observation only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05592" y="5110214"/>
            <a:ext cx="299712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dashboard shows what changed, but not why it changed.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2059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RECOMMENDED ACTION PLAN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49831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Turn demand patterns into a focused operating plan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71166"/>
          <a:ext cx="10972526" cy="914400"/>
        </p:xfrm>
        <a:graphic>
          <a:graphicData uri="http://schemas.openxmlformats.org/drawingml/2006/table">
            <a:tbl>
              <a:tblPr/>
              <a:tblGrid>
                <a:gridCol w="4169465"/>
                <a:gridCol w="4608397"/>
                <a:gridCol w="2194664"/>
              </a:tblGrid>
              <a:tr h="6112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Action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Objective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Priority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Morning staffing and stock reset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Capture peak demand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High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5922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Coffee + bakery / beans bundles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Lift basket size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High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5922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Saturday test promotion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Close the weekend gap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Medium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2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Category review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Improve low-volume mix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Medium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Monthly KPI review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Sustain the momentum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64646"/>
                          </a:solidFill>
                          <a:latin typeface="Inter Medium" pitchFamily="34" charset="0"/>
                          <a:ea typeface="Inter Medium" pitchFamily="34" charset="-122"/>
                          <a:cs typeface="Inter Medium" pitchFamily="34" charset="-120"/>
                        </a:rPr>
                        <a:t>High</a:t>
                      </a:r>
                      <a:endParaRPr lang="en-US" sz="1700" dirty="0">
                        <a:latin typeface="Inter Medium" charset="0"/>
                        <a:ea typeface="Inter Medium" charset="0"/>
                        <a:cs typeface="Inter Medium" charset="0"/>
                      </a:endParaRPr>
                    </a:p>
                  </a:txBody>
                  <a:tcPr marL="152396" marR="152396" marT="139697" marB="139697" anchor="ctr">
                    <a:lnL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97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619135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operating sequence is simple: protect the peak, raise attach rates, test selectively, and review the same measures monthly.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3935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Bright Coffee Shop Sales Analysis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15482"/>
            <a:ext cx="670543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NEXT DECISION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644722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Use the data to make the next decision smarter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2777728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47603"/>
            <a:ext cx="6095848" cy="2501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 the momentum visible from March through June. Build on coffee and tea strength by improving attach rates for smaller categories; manage to the morning peak and monitor the modest weekend gap.</a:t>
            </a:r>
            <a:endParaRPr lang="en-US" sz="1700" dirty="0"/>
          </a:p>
          <a:p>
            <a:pPr algn="l" indent="0" marL="0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revenue, units, transactions, category mix, store share, and time-of-day demand monthly.</a:t>
            </a:r>
            <a:endParaRPr lang="en-US" sz="17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Thank you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876678" cy="6248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400247" y="6583859"/>
            <a:ext cx="791448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2026-10-11T14:35:20Z</dcterms:created>
  <dcterms:modified xsi:type="dcterms:W3CDTF">2026-10-11T14:35:20Z</dcterms:modified>
</cp:coreProperties>
</file>